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e du titre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12" name="Texte niveau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13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e du titre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21" name="Texte niveau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22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 du titre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Texte du titre</a:t>
            </a:r>
          </a:p>
        </p:txBody>
      </p:sp>
      <p:sp>
        <p:nvSpPr>
          <p:cNvPr id="30" name="Texte niveau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31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 du titre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39" name="Texte niveau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 du titre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48" name="Texte niveau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e du titre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Texte du titre</a:t>
            </a:r>
          </a:p>
        </p:txBody>
      </p:sp>
      <p:sp>
        <p:nvSpPr>
          <p:cNvPr id="58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e du titre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Texte du titre</a:t>
            </a:r>
          </a:p>
        </p:txBody>
      </p:sp>
      <p:sp>
        <p:nvSpPr>
          <p:cNvPr id="73" name="Texte niveau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e du titre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Texte du titre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 niveau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85" name="Numéro de diapositiv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 du titre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Texte du titre</a:t>
            </a:r>
          </a:p>
        </p:txBody>
      </p:sp>
      <p:sp>
        <p:nvSpPr>
          <p:cNvPr id="3" name="Texte niveau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 niveau 1</a:t>
            </a:r>
          </a:p>
          <a:p>
            <a:pPr lvl="1"/>
            <a:r>
              <a:t>Texte niveau 2</a:t>
            </a:r>
          </a:p>
          <a:p>
            <a:pPr lvl="2"/>
            <a:r>
              <a:t>Texte niveau 3</a:t>
            </a:r>
          </a:p>
          <a:p>
            <a:pPr lvl="3"/>
            <a:r>
              <a:t>Texte niveau 4</a:t>
            </a:r>
          </a:p>
          <a:p>
            <a:pPr lvl="4"/>
            <a:r>
              <a:t>Texte niveau 5</a:t>
            </a:r>
          </a:p>
        </p:txBody>
      </p:sp>
      <p:sp>
        <p:nvSpPr>
          <p:cNvPr id="4" name="Numéro de diapositive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extBox 2"/>
          <p:cNvSpPr txBox="1"/>
          <p:nvPr/>
        </p:nvSpPr>
        <p:spPr>
          <a:xfrm>
            <a:off x="4183181" y="2011679"/>
            <a:ext cx="3795158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A L T E R N A T I V E   D A T A   M O D E L S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2112744" y="2560320"/>
            <a:ext cx="7936032" cy="980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 sz="60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Le modèle clé-valeur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3207248" y="3931920"/>
            <a:ext cx="5747024" cy="396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defRPr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Redis  ·  David, Adam, Yo  ·  Holberton School Toulouse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0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01" name="TextBox 3"/>
          <p:cNvSpPr txBox="1"/>
          <p:nvPr/>
        </p:nvSpPr>
        <p:spPr>
          <a:xfrm>
            <a:off x="868680" y="914400"/>
            <a:ext cx="6525494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Pourquoi pas toujours du SQL ?</a:t>
            </a:r>
          </a:p>
        </p:txBody>
      </p:sp>
      <p:grpSp>
        <p:nvGrpSpPr>
          <p:cNvPr id="104" name="Rounded Rectangle 4"/>
          <p:cNvGrpSpPr/>
          <p:nvPr/>
        </p:nvGrpSpPr>
        <p:grpSpPr>
          <a:xfrm>
            <a:off x="822960" y="1965960"/>
            <a:ext cx="10515601" cy="3721609"/>
            <a:chOff x="0" y="0"/>
            <a:chExt cx="10515600" cy="3721608"/>
          </a:xfrm>
        </p:grpSpPr>
        <p:sp>
          <p:nvSpPr>
            <p:cNvPr id="102" name="Rectangle aux angles arrondis"/>
            <p:cNvSpPr/>
            <p:nvPr/>
          </p:nvSpPr>
          <p:spPr>
            <a:xfrm>
              <a:off x="0" y="0"/>
              <a:ext cx="10515600" cy="3721609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03" name="·  Le SQL paie à chaque requête le prix de sa puissance : parser, planifier, vérifier le schéma, verrouiller…"/>
            <p:cNvSpPr txBox="1"/>
            <p:nvPr/>
          </p:nvSpPr>
          <p:spPr>
            <a:xfrm>
              <a:off x="146840" y="55401"/>
              <a:ext cx="10221920" cy="28498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Le SQL paie à chaque requête le prix de sa puissance : parser, planifier, vérifier le schéma, verrouiller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Certains accès n'ont besoin de rien de tout ça : sessions, cache, compteurs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Ils ont juste besoin d'une chose : la vitesse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L'idée du jour : la persistance polyglotte, chaque donnée dans la base taillée pour son mode d'accès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08" name="TextBox 3"/>
          <p:cNvSpPr txBox="1"/>
          <p:nvPr/>
        </p:nvSpPr>
        <p:spPr>
          <a:xfrm>
            <a:off x="868680" y="914400"/>
            <a:ext cx="7560880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Le clé-valeur : un dictionnaire géant</a:t>
            </a:r>
          </a:p>
        </p:txBody>
      </p:sp>
      <p:grpSp>
        <p:nvGrpSpPr>
          <p:cNvPr id="111" name="Rounded Rectangle 4"/>
          <p:cNvGrpSpPr/>
          <p:nvPr/>
        </p:nvGrpSpPr>
        <p:grpSpPr>
          <a:xfrm>
            <a:off x="822960" y="1965960"/>
            <a:ext cx="10515601" cy="3721609"/>
            <a:chOff x="0" y="0"/>
            <a:chExt cx="10515600" cy="3721608"/>
          </a:xfrm>
        </p:grpSpPr>
        <p:sp>
          <p:nvSpPr>
            <p:cNvPr id="109" name="Rectangle aux angles arrondis"/>
            <p:cNvSpPr/>
            <p:nvPr/>
          </p:nvSpPr>
          <p:spPr>
            <a:xfrm>
              <a:off x="0" y="0"/>
              <a:ext cx="10515600" cy="3721609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0" name="·  Une clé unique pointe vers une valeur, c'est tout le modèle…"/>
            <p:cNvSpPr txBox="1"/>
            <p:nvPr/>
          </p:nvSpPr>
          <p:spPr>
            <a:xfrm>
              <a:off x="146840" y="55401"/>
              <a:ext cx="10221920" cy="2291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Une clé unique pointe vers une valeur, c'est tout le modèle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La base ne regarde jamais à l'intérieur de la valeur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L'analogie du vestiaire : tu donnes le jeton 42, tu récupères ta veste, instantané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Mais impossible de demander la veste noire en taille M : sans jeton, on est aveugle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14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15" name="TextBox 3"/>
          <p:cNvSpPr txBox="1"/>
          <p:nvPr/>
        </p:nvSpPr>
        <p:spPr>
          <a:xfrm>
            <a:off x="868680" y="914400"/>
            <a:ext cx="6268955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Les opérations : SET, GET, DEL</a:t>
            </a:r>
          </a:p>
        </p:txBody>
      </p:sp>
      <p:grpSp>
        <p:nvGrpSpPr>
          <p:cNvPr id="118" name="Rounded Rectangle 4"/>
          <p:cNvGrpSpPr/>
          <p:nvPr/>
        </p:nvGrpSpPr>
        <p:grpSpPr>
          <a:xfrm>
            <a:off x="822960" y="1965960"/>
            <a:ext cx="10515601" cy="4434841"/>
            <a:chOff x="0" y="0"/>
            <a:chExt cx="10515600" cy="4434840"/>
          </a:xfrm>
        </p:grpSpPr>
        <p:sp>
          <p:nvSpPr>
            <p:cNvPr id="116" name="Rectangle aux angles arrondis"/>
            <p:cNvSpPr/>
            <p:nvPr/>
          </p:nvSpPr>
          <p:spPr>
            <a:xfrm>
              <a:off x="0" y="0"/>
              <a:ext cx="10515600" cy="4434841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17" name="·  SET save:1 {zone: forêt, or: 100} : créer ou écraser…"/>
            <p:cNvSpPr txBox="1"/>
            <p:nvPr/>
          </p:nvSpPr>
          <p:spPr>
            <a:xfrm>
              <a:off x="156241" y="64801"/>
              <a:ext cx="10203118" cy="27482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SET save:1 {zone: forêt, or: 100} : créer ou écraser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GET save:1 : lire en temps constant, que la base ait 100 ou 100 millions de clés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DEL save:1 : supprimer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Pas de commande update : on réécrit la valeur entière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Accès par clé uniquement : pas de WHERE, pas de jointure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22" name="TextBox 3"/>
          <p:cNvSpPr txBox="1"/>
          <p:nvPr/>
        </p:nvSpPr>
        <p:spPr>
          <a:xfrm>
            <a:off x="868680" y="914400"/>
            <a:ext cx="9082392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Le POC : la vie d'un personnage, 6 concepts</a:t>
            </a:r>
          </a:p>
        </p:txBody>
      </p:sp>
      <p:pic>
        <p:nvPicPr>
          <p:cNvPr id="123" name="Picture 4" descr="Picture 4"/>
          <p:cNvPicPr>
            <a:picLocks noChangeAspect="1"/>
          </p:cNvPicPr>
          <p:nvPr/>
        </p:nvPicPr>
        <p:blipFill>
          <a:blip r:embed="rId3">
            <a:extLst/>
          </a:blip>
          <a:srcRect l="0" t="485" r="0" b="0"/>
          <a:stretch>
            <a:fillRect/>
          </a:stretch>
        </p:blipFill>
        <p:spPr>
          <a:xfrm>
            <a:off x="1445097" y="1617980"/>
            <a:ext cx="9289265" cy="504227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26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27" name="TextBox 3"/>
          <p:cNvSpPr txBox="1"/>
          <p:nvPr/>
        </p:nvSpPr>
        <p:spPr>
          <a:xfrm>
            <a:off x="868680" y="914400"/>
            <a:ext cx="6642435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Démo 1 : la vie d'un personnage</a:t>
            </a:r>
          </a:p>
        </p:txBody>
      </p:sp>
      <p:grpSp>
        <p:nvGrpSpPr>
          <p:cNvPr id="130" name="Rounded Rectangle 4"/>
          <p:cNvGrpSpPr/>
          <p:nvPr/>
        </p:nvGrpSpPr>
        <p:grpSpPr>
          <a:xfrm>
            <a:off x="822960" y="1965960"/>
            <a:ext cx="10515601" cy="3721609"/>
            <a:chOff x="0" y="0"/>
            <a:chExt cx="10515600" cy="3721608"/>
          </a:xfrm>
        </p:grpSpPr>
        <p:sp>
          <p:nvSpPr>
            <p:cNvPr id="128" name="Rectangle aux angles arrondis"/>
            <p:cNvSpPr/>
            <p:nvPr/>
          </p:nvSpPr>
          <p:spPr>
            <a:xfrm>
              <a:off x="0" y="0"/>
              <a:ext cx="10515600" cy="3721609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29" name="·  Sauvegarde (string) : le CRUD complet…"/>
            <p:cNvSpPr txBox="1"/>
            <p:nvPr/>
          </p:nvSpPr>
          <p:spPr>
            <a:xfrm>
              <a:off x="146840" y="55401"/>
              <a:ext cx="10221920" cy="2291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Sauvegarde (string) : le CRUD complet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Fiche perso (hash) : modifier le level sans toucher au reste de la fiche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File de quêtes (liste) : une file FIFO en deux commandes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Potion de vitesse (TTL) : la clé s'autodétruit toute seule, sans cron ni script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34" name="TextBox 3"/>
          <p:cNvSpPr txBox="1"/>
          <p:nvPr/>
        </p:nvSpPr>
        <p:spPr>
          <a:xfrm>
            <a:off x="868680" y="914400"/>
            <a:ext cx="5983348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Démo 2 : anti-spam et cache</a:t>
            </a:r>
          </a:p>
        </p:txBody>
      </p:sp>
      <p:grpSp>
        <p:nvGrpSpPr>
          <p:cNvPr id="137" name="Rounded Rectangle 4"/>
          <p:cNvGrpSpPr/>
          <p:nvPr/>
        </p:nvGrpSpPr>
        <p:grpSpPr>
          <a:xfrm>
            <a:off x="822960" y="1965960"/>
            <a:ext cx="10515601" cy="3721609"/>
            <a:chOff x="0" y="0"/>
            <a:chExt cx="10515600" cy="3721608"/>
          </a:xfrm>
        </p:grpSpPr>
        <p:sp>
          <p:nvSpPr>
            <p:cNvPr id="135" name="Rectangle aux angles arrondis"/>
            <p:cNvSpPr/>
            <p:nvPr/>
          </p:nvSpPr>
          <p:spPr>
            <a:xfrm>
              <a:off x="0" y="0"/>
              <a:ext cx="10515600" cy="3721609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36" name="·  Rate limiter : 5 attaques par minute, INCR atomique + EXPIRE, en 4 lignes…"/>
            <p:cNvSpPr txBox="1"/>
            <p:nvPr/>
          </p:nvSpPr>
          <p:spPr>
            <a:xfrm>
              <a:off x="146840" y="55401"/>
              <a:ext cx="10221920" cy="2291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Rate limiter : 5 attaques par minute, INCR atomique + EXPIRE, en 4 lignes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Cache : le classement calculé en SQL prend 2 secondes, en cache Redis 2 millisecondes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Mesuré en direct devant vous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Dans le monde réel : sessions web, rate limiting d'API, cache de page d'accueil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0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41" name="TextBox 3"/>
          <p:cNvSpPr txBox="1"/>
          <p:nvPr/>
        </p:nvSpPr>
        <p:spPr>
          <a:xfrm>
            <a:off x="868680" y="914400"/>
            <a:ext cx="3502184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Forces et limites</a:t>
            </a:r>
          </a:p>
        </p:txBody>
      </p:sp>
      <p:grpSp>
        <p:nvGrpSpPr>
          <p:cNvPr id="144" name="Rounded Rectangle 4"/>
          <p:cNvGrpSpPr/>
          <p:nvPr/>
        </p:nvGrpSpPr>
        <p:grpSpPr>
          <a:xfrm>
            <a:off x="822960" y="1965960"/>
            <a:ext cx="10515601" cy="4434841"/>
            <a:chOff x="0" y="0"/>
            <a:chExt cx="10515600" cy="4434840"/>
          </a:xfrm>
        </p:grpSpPr>
        <p:sp>
          <p:nvSpPr>
            <p:cNvPr id="142" name="Rectangle aux angles arrondis"/>
            <p:cNvSpPr/>
            <p:nvPr/>
          </p:nvSpPr>
          <p:spPr>
            <a:xfrm>
              <a:off x="0" y="0"/>
              <a:ext cx="10515600" cy="4434841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3" name="·  Force : latence sous la milliseconde, des centaines de milliers d'opérations par seconde…"/>
            <p:cNvSpPr txBox="1"/>
            <p:nvPr/>
          </p:nvSpPr>
          <p:spPr>
            <a:xfrm>
              <a:off x="156241" y="64801"/>
              <a:ext cx="10203118" cy="27482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Force : latence sous la milliseconde, des centaines de milliers d'opérations par seconde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Force : TTL natif, opérations atomiques, scalabilité horizontale facile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Limite : aucune recherche par contenu, il faut connaître la clé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Limite : update = écrasement total de la valeur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Limite : données en RAM, perdues en cas de crash sans persistance (RDB ou AOF)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47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48" name="TextBox 3"/>
          <p:cNvSpPr txBox="1"/>
          <p:nvPr/>
        </p:nvSpPr>
        <p:spPr>
          <a:xfrm>
            <a:off x="868680" y="914400"/>
            <a:ext cx="7965969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Comparaison avec les autres modèles</a:t>
            </a:r>
          </a:p>
        </p:txBody>
      </p:sp>
      <p:grpSp>
        <p:nvGrpSpPr>
          <p:cNvPr id="151" name="Rounded Rectangle 4"/>
          <p:cNvGrpSpPr/>
          <p:nvPr/>
        </p:nvGrpSpPr>
        <p:grpSpPr>
          <a:xfrm>
            <a:off x="822960" y="1965960"/>
            <a:ext cx="10515601" cy="3721609"/>
            <a:chOff x="0" y="0"/>
            <a:chExt cx="10515600" cy="3721608"/>
          </a:xfrm>
        </p:grpSpPr>
        <p:sp>
          <p:nvSpPr>
            <p:cNvPr id="149" name="Rectangle aux angles arrondis"/>
            <p:cNvSpPr/>
            <p:nvPr/>
          </p:nvSpPr>
          <p:spPr>
            <a:xfrm>
              <a:off x="0" y="0"/>
              <a:ext cx="10515600" cy="3721609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0" name="·  Plus simple que SQL : lire et écrire par clé, expirer des données, compter sous forte charge…"/>
            <p:cNvSpPr txBox="1"/>
            <p:nvPr/>
          </p:nvSpPr>
          <p:spPr>
            <a:xfrm>
              <a:off x="146840" y="55401"/>
              <a:ext cx="10221920" cy="25704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Plus simple que SQL : lire et écrire par clé, expirer des données, compter sous forte charge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Plus dur que SQL : tout le reste, la moindre question analytique est impossible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vs document (MongoDB) : Mongo interroge l'intérieur des valeurs, Redis non, mais l'accès par clé est plus rapide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Le SQL reste meilleur pour : données précieuses, questions imprévues, cohérence garantie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Picture 1" descr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54" name="TextBox 2"/>
          <p:cNvSpPr txBox="1"/>
          <p:nvPr/>
        </p:nvSpPr>
        <p:spPr>
          <a:xfrm>
            <a:off x="868680" y="502919"/>
            <a:ext cx="3535580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1300">
                <a:solidFill>
                  <a:srgbClr val="7A8C7E"/>
                </a:solidFill>
                <a:latin typeface="DM Sans 9pt Regular Regular"/>
                <a:ea typeface="DM Sans 9pt Regular Regular"/>
                <a:cs typeface="DM Sans 9pt Regular Regular"/>
                <a:sym typeface="DM Sans 9pt Regular Regular"/>
              </a:defRPr>
            </a:lvl1pPr>
          </a:lstStyle>
          <a:p>
            <a:pPr/>
            <a:r>
              <a:t>P L D   ·   L E   M O D È L E   C L É - V A L E U R</a:t>
            </a:r>
          </a:p>
        </p:txBody>
      </p:sp>
      <p:sp>
        <p:nvSpPr>
          <p:cNvPr id="155" name="TextBox 3"/>
          <p:cNvSpPr txBox="1"/>
          <p:nvPr/>
        </p:nvSpPr>
        <p:spPr>
          <a:xfrm>
            <a:off x="868680" y="914400"/>
            <a:ext cx="5368947" cy="599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sz="3400">
                <a:solidFill>
                  <a:srgbClr val="00311E"/>
                </a:solidFill>
                <a:latin typeface="Raleway Thin Bold"/>
                <a:ea typeface="Raleway Thin Bold"/>
                <a:cs typeface="Raleway Thin Bold"/>
                <a:sym typeface="Raleway Thin Bold"/>
              </a:defRPr>
            </a:lvl1pPr>
          </a:lstStyle>
          <a:p>
            <a:pPr/>
            <a:r>
              <a:t>La persistance polyglotte</a:t>
            </a:r>
          </a:p>
        </p:txBody>
      </p:sp>
      <p:grpSp>
        <p:nvGrpSpPr>
          <p:cNvPr id="158" name="Rounded Rectangle 4"/>
          <p:cNvGrpSpPr/>
          <p:nvPr/>
        </p:nvGrpSpPr>
        <p:grpSpPr>
          <a:xfrm>
            <a:off x="822960" y="1965960"/>
            <a:ext cx="10515601" cy="4434841"/>
            <a:chOff x="0" y="0"/>
            <a:chExt cx="10515600" cy="4434840"/>
          </a:xfrm>
        </p:grpSpPr>
        <p:sp>
          <p:nvSpPr>
            <p:cNvPr id="156" name="Rectangle aux angles arrondis"/>
            <p:cNvSpPr/>
            <p:nvPr/>
          </p:nvSpPr>
          <p:spPr>
            <a:xfrm>
              <a:off x="0" y="0"/>
              <a:ext cx="10515600" cy="4434841"/>
            </a:xfrm>
            <a:prstGeom prst="roundRect">
              <a:avLst>
                <a:gd name="adj" fmla="val 4500"/>
              </a:avLst>
            </a:prstGeom>
            <a:solidFill>
              <a:srgbClr val="F2F4F1"/>
            </a:solidFill>
            <a:ln w="12700" cap="flat">
              <a:solidFill>
                <a:srgbClr val="E1E6E2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400"/>
                </a:spcBef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7" name="·  Redis ne remplace jamais le SQL : il le complète…"/>
            <p:cNvSpPr txBox="1"/>
            <p:nvPr/>
          </p:nvSpPr>
          <p:spPr>
            <a:xfrm>
              <a:off x="156241" y="64801"/>
              <a:ext cx="10203118" cy="27482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20040" tIns="320040" rIns="320040" bIns="320040" numCol="1" anchor="t">
              <a:spAutoFit/>
            </a:bodyPr>
            <a:lstStyle/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Redis ne remplace jamais le SQL : il le complète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PostgreSQL : la source de vérité (comptes, commandes, cohérence)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Redis devant : cache, sessions, rate limiting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Chaque donnée va dans le modèle taillé pour son mode d'accès</a:t>
              </a:r>
              <a:endParaRPr>
                <a:solidFill>
                  <a:srgbClr val="FFFFFF"/>
                </a:solidFill>
              </a:endParaRPr>
            </a:p>
            <a:p>
              <a:pPr>
                <a:spcBef>
                  <a:spcPts val="1400"/>
                </a:spcBef>
                <a:defRPr sz="1700">
                  <a:solidFill>
                    <a:srgbClr val="00311E"/>
                  </a:solidFill>
                  <a:latin typeface="DM Sans 9pt Regular Regular"/>
                  <a:ea typeface="DM Sans 9pt Regular Regular"/>
                  <a:cs typeface="DM Sans 9pt Regular Regular"/>
                  <a:sym typeface="DM Sans 9pt Regular Regular"/>
                </a:defRPr>
              </a:pPr>
              <a:r>
                <a:t>·  </a:t>
              </a:r>
              <a:r>
                <a:rPr>
                  <a:solidFill>
                    <a:srgbClr val="4F5F53"/>
                  </a:solidFill>
                </a:rPr>
                <a:t>Ce qu'on retient : la limite du clé-valeur est aussi sa force, sa simplicité fait sa vitesse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